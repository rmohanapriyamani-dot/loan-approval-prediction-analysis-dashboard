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4630400" cy="8229600"/>
  <p:notesSz cx="8229600" cy="14630400"/>
  <p:embeddedFontLst>
    <p:embeddedFont>
      <p:font typeface="Alice"/>
      <p:regular r:id="rId29"/>
    </p:embeddedFont>
    <p:embeddedFont>
      <p:font typeface="Alice"/>
      <p:regular r:id="rId30"/>
    </p:embeddedFont>
    <p:embeddedFont>
      <p:font typeface="Lora"/>
      <p:regular r:id="rId31"/>
    </p:embeddedFont>
    <p:embeddedFont>
      <p:font typeface="Lora"/>
      <p:regular r:id="rId32"/>
    </p:embeddedFont>
    <p:embeddedFont>
      <p:font typeface="Lora"/>
      <p:regular r:id="rId33"/>
    </p:embeddedFont>
    <p:embeddedFont>
      <p:font typeface="Lora"/>
      <p:regular r:id="rId3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font" Target="fonts/font1.fntdata"/><Relationship Id="rId30" Type="http://schemas.openxmlformats.org/officeDocument/2006/relationships/font" Target="fonts/font2.fntdata"/><Relationship Id="rId31" Type="http://schemas.openxmlformats.org/officeDocument/2006/relationships/font" Target="fonts/font3.fntdata"/><Relationship Id="rId32" Type="http://schemas.openxmlformats.org/officeDocument/2006/relationships/font" Target="fonts/font4.fntdata"/><Relationship Id="rId33" Type="http://schemas.openxmlformats.org/officeDocument/2006/relationships/font" Target="fonts/font5.fntdata"/><Relationship Id="rId3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3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3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7-1.png"/><Relationship Id="rId3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8-1.png"/><Relationship Id="rId3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9-1.png"/><Relationship Id="rId3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0-1.png"/><Relationship Id="rId3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1-1.png"/><Relationship Id="rId3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2-1.png"/><Relationship Id="rId3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slideLayout" Target="../slideLayouts/slideLayout17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5492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Loan Approval Prediction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01264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data-driven exploration of loan approval patterns across demographics, property areas, credit history, and employment status.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99360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61165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                                                                                          R. Mohana Priya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468279"/>
            <a:ext cx="5292923" cy="52929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47736" y="20423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Problem Context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647736" y="2977991"/>
            <a:ext cx="71963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 today's banking landscape, loan officers face two critical challenges: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647736" y="3907869"/>
            <a:ext cx="7196376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Processing hundreds of applications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quickly and accurately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Minimizing default risk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while maximizing customer satisfaction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647736" y="4917043"/>
            <a:ext cx="71963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Traditional manual assessment is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time-consuming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inconsistent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and often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prone to bias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647736" y="5846921"/>
            <a:ext cx="71963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7983" y="1427202"/>
            <a:ext cx="4570333" cy="571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Project Overview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007983" y="2145744"/>
            <a:ext cx="6084094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primary goal was to answer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two critical business questions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7983" y="2542223"/>
            <a:ext cx="6084094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factors most influence loan approval?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7983" y="2857738"/>
            <a:ext cx="6084094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050"/>
              </a:lnSpc>
              <a:buSzPct val="100000"/>
              <a:buChar char="◦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Credit history, income, employment type, property area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7983" y="3173254"/>
            <a:ext cx="6084094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Font typeface="+mj-lt"/>
              <a:buAutoNum type="arabicPeriod" startAt="2"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do different customer segments perform?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7983" y="3488769"/>
            <a:ext cx="6084094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050"/>
              </a:lnSpc>
              <a:buSzPct val="100000"/>
              <a:buChar char="◦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Self-employed vs salaried, graduates vs non-graduates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7983" y="3900011"/>
            <a:ext cx="2742247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Deliverables: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1007983" y="4389953"/>
            <a:ext cx="6084094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 delivered: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7983" y="4786432"/>
            <a:ext cx="6084094" cy="152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/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 interconnected Power BI dashboard pages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/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13+ DAX measures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for advanced calculations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/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Interactive filters and drill-through capabilities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/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Automated insights and alerts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/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Complete documentation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for business users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7983" y="6459736"/>
            <a:ext cx="2742247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endParaRPr lang="en-US" sz="21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5705" y="1596033"/>
            <a:ext cx="5037534" cy="50375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0184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Tools Used: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793790" y="2167295"/>
            <a:ext cx="75564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Power BI Desktop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for visualization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DAX (Data Analysis Expressions)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for calculations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Power Query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for data cleaning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Excel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as data source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19695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Dataset Snapshot: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93790" y="4962406"/>
            <a:ext cx="75564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598 loan applications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20+ attributes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including demographics, income, credit history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 variable: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Loan_Status (Approved/Rejected)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46485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5678" y="1422916"/>
            <a:ext cx="2852857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Dataset Overview: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665678" y="2018705"/>
            <a:ext cx="5983843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data contains </a:t>
            </a:r>
            <a:pPr algn="l"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598 loan applications</a:t>
            </a:r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with these key fields: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5678" y="2477572"/>
            <a:ext cx="5983843" cy="4329113"/>
          </a:xfrm>
          <a:prstGeom prst="roundRect">
            <a:avLst>
              <a:gd name="adj" fmla="val 65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3298" y="2485192"/>
            <a:ext cx="5968603" cy="4860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863441" y="2588419"/>
            <a:ext cx="2600206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Category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851553" y="2588419"/>
            <a:ext cx="2600206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Fields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73298" y="2971205"/>
            <a:ext cx="5968603" cy="76557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863441" y="3074432"/>
            <a:ext cx="2600206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Demographic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851553" y="3074432"/>
            <a:ext cx="2600206" cy="55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Gender, Married, Education, Self_Employed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73298" y="3736777"/>
            <a:ext cx="5968603" cy="10451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63441" y="3840004"/>
            <a:ext cx="2600206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Financial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851553" y="3840004"/>
            <a:ext cx="2600206" cy="83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ApplicantIncome, CoapplicantIncome, Loan_Amount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73298" y="4781907"/>
            <a:ext cx="5968603" cy="48601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863441" y="4885134"/>
            <a:ext cx="2600206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Credit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3851553" y="4885134"/>
            <a:ext cx="2600206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Credit_History (0 or 1)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73298" y="5267920"/>
            <a:ext cx="5968603" cy="7655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863441" y="5371148"/>
            <a:ext cx="2600206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Loan Details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3851553" y="5371148"/>
            <a:ext cx="2600206" cy="55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Tenure (60 months fixed), Interest Rate (18%)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673298" y="6033492"/>
            <a:ext cx="5968603" cy="76557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863441" y="6136719"/>
            <a:ext cx="2600206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3851553" y="6136719"/>
            <a:ext cx="2600206" cy="55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Loan_Status (Y = Approved, N = Rejected)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2713" y="688419"/>
            <a:ext cx="3226118" cy="40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Feature Engineering: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752713" y="1397556"/>
            <a:ext cx="7638574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 created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 new calculated columns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to enable deeper analysis: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52713" y="1961912"/>
            <a:ext cx="7638574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DAX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752713" y="2526268"/>
            <a:ext cx="7638574" cy="4450556"/>
          </a:xfrm>
          <a:prstGeom prst="roundRect">
            <a:avLst>
              <a:gd name="adj" fmla="val 725"/>
            </a:avLst>
          </a:prstGeom>
          <a:solidFill>
            <a:srgbClr val="EFEEEB"/>
          </a:solidFill>
          <a:ln/>
        </p:spPr>
      </p:sp>
      <p:sp>
        <p:nvSpPr>
          <p:cNvPr id="7" name="Shape 4"/>
          <p:cNvSpPr/>
          <p:nvPr/>
        </p:nvSpPr>
        <p:spPr>
          <a:xfrm>
            <a:off x="741998" y="2526268"/>
            <a:ext cx="7660005" cy="4450556"/>
          </a:xfrm>
          <a:prstGeom prst="roundRect">
            <a:avLst>
              <a:gd name="adj" fmla="val 725"/>
            </a:avLst>
          </a:prstGeom>
          <a:solidFill>
            <a:srgbClr val="EFEEEB"/>
          </a:solidFill>
          <a:ln/>
        </p:spPr>
      </p:sp>
      <p:sp>
        <p:nvSpPr>
          <p:cNvPr id="8" name="Text 5"/>
          <p:cNvSpPr/>
          <p:nvPr/>
        </p:nvSpPr>
        <p:spPr>
          <a:xfrm>
            <a:off x="1010841" y="2741295"/>
            <a:ext cx="7122319" cy="4020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73A49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 Income = ApplicantIncome + CoapplicantIncome
Avg App income = AVERAGE(LoanApprovalPrediction[ApplicantIncome])
Avg Co-App income = AVERAGE(LoanApprovalPrediction[CoapplicantIncome])
Approved Loans = CALCULATE(COUNT('LoanApprovalPrediction'[Loan_ID]),'LoanApprovalPrediction'[Loan_Status] = "Y")
Rejected Loans = CALCULATE(COUNT('LoanApprovalPrediction'[Loan_ID]),'LoanApprovalPrediction'[Loan_Status] = "N")
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2713" y="7206139"/>
            <a:ext cx="7638574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5661" y="1023104"/>
            <a:ext cx="3754874" cy="469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50" b="1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Finding 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5661" y="1532215"/>
            <a:ext cx="4264223" cy="469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1 - Credit History Impact: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25661" y="2150745"/>
            <a:ext cx="8092678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Good credit (1):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78% approval rate</a:t>
            </a:r>
            <a:endParaRPr lang="en-US" sz="11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Bad credit (0):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22% approval rate</a:t>
            </a:r>
            <a:endParaRPr lang="en-US" sz="11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56 percentage point gap!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25661" y="2968823"/>
            <a:ext cx="4887516" cy="469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2- Self Employed Vs Salaried:</a:t>
            </a:r>
            <a:endParaRPr lang="en-US" sz="2950" dirty="0"/>
          </a:p>
        </p:txBody>
      </p:sp>
      <p:sp>
        <p:nvSpPr>
          <p:cNvPr id="7" name="Text 4"/>
          <p:cNvSpPr/>
          <p:nvPr/>
        </p:nvSpPr>
        <p:spPr>
          <a:xfrm>
            <a:off x="525661" y="3587353"/>
            <a:ext cx="8092678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Self-employed: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64% approval</a:t>
            </a:r>
            <a:endParaRPr lang="en-US" sz="11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Salaried: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81% approval</a:t>
            </a:r>
            <a:endParaRPr lang="en-US" sz="11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17% gap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– self-employed at disadvantage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25661" y="4405432"/>
            <a:ext cx="3754874" cy="469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3- Property Area:</a:t>
            </a:r>
            <a:endParaRPr lang="en-US" sz="2950" dirty="0"/>
          </a:p>
        </p:txBody>
      </p:sp>
      <p:sp>
        <p:nvSpPr>
          <p:cNvPr id="9" name="Text 6"/>
          <p:cNvSpPr/>
          <p:nvPr/>
        </p:nvSpPr>
        <p:spPr>
          <a:xfrm>
            <a:off x="525661" y="5023961"/>
            <a:ext cx="8092678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Urban: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75% approval</a:t>
            </a:r>
            <a:endParaRPr lang="en-US" sz="11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Semiurban: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65% approval</a:t>
            </a:r>
            <a:endParaRPr lang="en-US" sz="11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Rural: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55% approval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5661" y="5842040"/>
            <a:ext cx="3754874" cy="469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4- Education:</a:t>
            </a:r>
            <a:endParaRPr lang="en-US" sz="2950" dirty="0"/>
          </a:p>
        </p:txBody>
      </p:sp>
      <p:sp>
        <p:nvSpPr>
          <p:cNvPr id="11" name="Text 8"/>
          <p:cNvSpPr/>
          <p:nvPr/>
        </p:nvSpPr>
        <p:spPr>
          <a:xfrm>
            <a:off x="525661" y="6460569"/>
            <a:ext cx="809267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Graduates: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72% approval</a:t>
            </a:r>
            <a:endParaRPr lang="en-US" sz="11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Non-graduates: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52% approval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25661" y="7006709"/>
            <a:ext cx="8092678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635" y="695801"/>
            <a:ext cx="5011698" cy="62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Portfolio at a Glance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01635" y="1776651"/>
            <a:ext cx="6502837" cy="661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598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2700099" y="2671167"/>
            <a:ext cx="2505789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Total Loans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01635" y="3090624"/>
            <a:ext cx="6502837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Applications analyzed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425928" y="1776651"/>
            <a:ext cx="6502837" cy="661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411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424392" y="2671167"/>
            <a:ext cx="2505789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Approved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425928" y="3090624"/>
            <a:ext cx="6502837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68.7% approval rate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01635" y="3847148"/>
            <a:ext cx="6502837" cy="661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187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700099" y="4741664"/>
            <a:ext cx="2505789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Rejected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01635" y="5161121"/>
            <a:ext cx="6502837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31.3% rejection rate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425928" y="3847148"/>
            <a:ext cx="6502837" cy="661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64K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9424392" y="4741664"/>
            <a:ext cx="2505789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Avg App Income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425928" y="5161121"/>
            <a:ext cx="6502837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Applicant income (₹)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01635" y="5917644"/>
            <a:ext cx="6502837" cy="661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18K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2700099" y="6812161"/>
            <a:ext cx="2505789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Avg Co-App Income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01635" y="7231618"/>
            <a:ext cx="6502837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Co-applicant income (₹)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425928" y="5917644"/>
            <a:ext cx="6502837" cy="661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1.0M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9424392" y="6812161"/>
            <a:ext cx="2505789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Avg Loan Requested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425928" y="7231618"/>
            <a:ext cx="6502837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Average loan amount (₹)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566" y="1671757"/>
            <a:ext cx="8229957" cy="638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Education &amp; Gender vs. Loan Status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15566" y="2794278"/>
            <a:ext cx="847981" cy="180349"/>
          </a:xfrm>
          <a:prstGeom prst="roundRect">
            <a:avLst>
              <a:gd name="adj" fmla="val 70982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029" y="2834341"/>
            <a:ext cx="100223" cy="1002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7660" y="2819333"/>
            <a:ext cx="597423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Approved (Y)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1630362" y="2794278"/>
            <a:ext cx="816661" cy="180349"/>
          </a:xfrm>
          <a:prstGeom prst="roundRect">
            <a:avLst>
              <a:gd name="adj" fmla="val 70982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826" y="2834341"/>
            <a:ext cx="100223" cy="1002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2456" y="2819333"/>
            <a:ext cx="566104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Rejected (N)</a:t>
            </a:r>
            <a:endParaRPr lang="en-US" sz="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66" y="3058146"/>
            <a:ext cx="6347460" cy="33407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72137" y="2771180"/>
            <a:ext cx="2555558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Insight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7572137" y="3274695"/>
            <a:ext cx="6350318" cy="932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Graduates dominate approvals with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329 approved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vs. 136 rejected — a 71% approval rate. Non-graduates show a lower approval rate of 62% (82 approved, 51 rejected).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572137" y="4373047"/>
            <a:ext cx="6350318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Education level is a strong predictor of loan approval outcomes.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84052"/>
            <a:ext cx="69982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Approvals by Property Area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032992"/>
            <a:ext cx="839669" cy="214774"/>
          </a:xfrm>
          <a:prstGeom prst="roundRect">
            <a:avLst>
              <a:gd name="adj" fmla="val 59605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812" y="2080702"/>
            <a:ext cx="119353" cy="1193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08950" y="2062831"/>
            <a:ext cx="541286" cy="155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Approved</a:t>
            </a:r>
            <a:endParaRPr lang="en-US" sz="700" dirty="0"/>
          </a:p>
        </p:txBody>
      </p:sp>
      <p:sp>
        <p:nvSpPr>
          <p:cNvPr id="7" name="Shape 3"/>
          <p:cNvSpPr/>
          <p:nvPr/>
        </p:nvSpPr>
        <p:spPr>
          <a:xfrm>
            <a:off x="7199428" y="2032992"/>
            <a:ext cx="779215" cy="214774"/>
          </a:xfrm>
          <a:prstGeom prst="roundRect">
            <a:avLst>
              <a:gd name="adj" fmla="val 59605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050" y="2080702"/>
            <a:ext cx="119353" cy="11935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28188" y="2062831"/>
            <a:ext cx="480832" cy="155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Rejected</a:t>
            </a:r>
            <a:endParaRPr lang="en-US" sz="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347227"/>
            <a:ext cx="7559040" cy="39784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180368" y="2798580"/>
            <a:ext cx="247564" cy="18897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173</a:t>
            </a:r>
            <a:endParaRPr lang="en-US" sz="650" dirty="0"/>
          </a:p>
        </p:txBody>
      </p:sp>
      <p:sp>
        <p:nvSpPr>
          <p:cNvPr id="12" name="Text 6"/>
          <p:cNvSpPr/>
          <p:nvPr/>
        </p:nvSpPr>
        <p:spPr>
          <a:xfrm>
            <a:off x="8759266" y="3205028"/>
            <a:ext cx="184936" cy="18897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52</a:t>
            </a:r>
            <a:endParaRPr lang="en-US" sz="650" dirty="0"/>
          </a:p>
        </p:txBody>
      </p:sp>
      <p:sp>
        <p:nvSpPr>
          <p:cNvPr id="13" name="Text 7"/>
          <p:cNvSpPr/>
          <p:nvPr/>
        </p:nvSpPr>
        <p:spPr>
          <a:xfrm>
            <a:off x="11585841" y="3928703"/>
            <a:ext cx="247565" cy="18897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130</a:t>
            </a:r>
            <a:endParaRPr lang="en-US" sz="650" dirty="0"/>
          </a:p>
        </p:txBody>
      </p:sp>
      <p:sp>
        <p:nvSpPr>
          <p:cNvPr id="14" name="Text 8"/>
          <p:cNvSpPr/>
          <p:nvPr/>
        </p:nvSpPr>
        <p:spPr>
          <a:xfrm>
            <a:off x="9348553" y="4335151"/>
            <a:ext cx="184936" cy="18897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68</a:t>
            </a:r>
            <a:endParaRPr lang="en-US" sz="650" dirty="0"/>
          </a:p>
        </p:txBody>
      </p:sp>
      <p:sp>
        <p:nvSpPr>
          <p:cNvPr id="15" name="Text 9"/>
          <p:cNvSpPr/>
          <p:nvPr/>
        </p:nvSpPr>
        <p:spPr>
          <a:xfrm>
            <a:off x="10772271" y="5058827"/>
            <a:ext cx="247564" cy="18897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108</a:t>
            </a:r>
            <a:endParaRPr lang="en-US" sz="650" dirty="0"/>
          </a:p>
        </p:txBody>
      </p:sp>
      <p:sp>
        <p:nvSpPr>
          <p:cNvPr id="16" name="Text 10"/>
          <p:cNvSpPr/>
          <p:nvPr/>
        </p:nvSpPr>
        <p:spPr>
          <a:xfrm>
            <a:off x="9314695" y="5465275"/>
            <a:ext cx="184936" cy="18897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67</a:t>
            </a:r>
            <a:endParaRPr lang="en-US" sz="650" dirty="0"/>
          </a:p>
        </p:txBody>
      </p:sp>
      <p:sp>
        <p:nvSpPr>
          <p:cNvPr id="17" name="Text 11"/>
          <p:cNvSpPr/>
          <p:nvPr/>
        </p:nvSpPr>
        <p:spPr>
          <a:xfrm>
            <a:off x="6280190" y="651962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Semiurban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areas lead with the highest approval rate (77%), while Rural and Urban areas show more balanced approval-to-rejection ratios.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72" y="1150858"/>
            <a:ext cx="1026890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Loan Amount by Gender &amp; Credit History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72" y="2476607"/>
            <a:ext cx="6278880" cy="34864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67419" y="3948865"/>
            <a:ext cx="916660" cy="178401"/>
          </a:xfrm>
          <a:prstGeom prst="roundRect">
            <a:avLst>
              <a:gd name="adj" fmla="val 71757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251" y="3988495"/>
            <a:ext cx="99140" cy="991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69830" y="3973650"/>
            <a:ext cx="668809" cy="12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Male·81.44%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5596897" y="3973650"/>
            <a:ext cx="441742" cy="12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·81.44%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5636528" y="3973650"/>
            <a:ext cx="26592" cy="12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167419" y="4193359"/>
            <a:ext cx="1026772" cy="178400"/>
          </a:xfrm>
          <a:prstGeom prst="roundRect">
            <a:avLst>
              <a:gd name="adj" fmla="val 71758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251" y="4232989"/>
            <a:ext cx="99140" cy="991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69830" y="4218143"/>
            <a:ext cx="778922" cy="12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Female·18.56%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5707010" y="4218143"/>
            <a:ext cx="441742" cy="12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·18.56%</a:t>
            </a:r>
            <a:endParaRPr lang="en-US" sz="700" dirty="0"/>
          </a:p>
        </p:txBody>
      </p:sp>
      <p:sp>
        <p:nvSpPr>
          <p:cNvPr id="13" name="Text 8"/>
          <p:cNvSpPr/>
          <p:nvPr/>
        </p:nvSpPr>
        <p:spPr>
          <a:xfrm>
            <a:off x="5746640" y="4218143"/>
            <a:ext cx="26592" cy="12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473" y="2476607"/>
            <a:ext cx="6278880" cy="348643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1836978" y="3948865"/>
            <a:ext cx="1280562" cy="178401"/>
          </a:xfrm>
          <a:prstGeom prst="roundRect">
            <a:avLst>
              <a:gd name="adj" fmla="val 71757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4810" y="3988495"/>
            <a:ext cx="99141" cy="991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064174" y="3973650"/>
            <a:ext cx="1032710" cy="12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Approved (Y)·68.73%</a:t>
            </a:r>
            <a:endParaRPr lang="en-US" sz="700" dirty="0"/>
          </a:p>
        </p:txBody>
      </p:sp>
      <p:sp>
        <p:nvSpPr>
          <p:cNvPr id="18" name="Text 11"/>
          <p:cNvSpPr/>
          <p:nvPr/>
        </p:nvSpPr>
        <p:spPr>
          <a:xfrm>
            <a:off x="12655143" y="3973650"/>
            <a:ext cx="441741" cy="12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·68.73%</a:t>
            </a:r>
            <a:endParaRPr lang="en-US" sz="700" dirty="0"/>
          </a:p>
        </p:txBody>
      </p:sp>
      <p:sp>
        <p:nvSpPr>
          <p:cNvPr id="19" name="Text 12"/>
          <p:cNvSpPr/>
          <p:nvPr/>
        </p:nvSpPr>
        <p:spPr>
          <a:xfrm>
            <a:off x="12694773" y="3973650"/>
            <a:ext cx="26593" cy="12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20" name="Shape 13"/>
          <p:cNvSpPr/>
          <p:nvPr/>
        </p:nvSpPr>
        <p:spPr>
          <a:xfrm>
            <a:off x="11836978" y="4193359"/>
            <a:ext cx="1249580" cy="178400"/>
          </a:xfrm>
          <a:prstGeom prst="roundRect">
            <a:avLst>
              <a:gd name="adj" fmla="val 71758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810" y="4232989"/>
            <a:ext cx="99141" cy="9914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064174" y="4218143"/>
            <a:ext cx="1001730" cy="12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Rejected (N)·31.27%</a:t>
            </a:r>
            <a:endParaRPr lang="en-US" sz="700" dirty="0"/>
          </a:p>
        </p:txBody>
      </p:sp>
      <p:sp>
        <p:nvSpPr>
          <p:cNvPr id="23" name="Text 15"/>
          <p:cNvSpPr/>
          <p:nvPr/>
        </p:nvSpPr>
        <p:spPr>
          <a:xfrm>
            <a:off x="12624162" y="4218143"/>
            <a:ext cx="441742" cy="12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·31.27%</a:t>
            </a:r>
            <a:endParaRPr lang="en-US" sz="700" dirty="0"/>
          </a:p>
        </p:txBody>
      </p:sp>
      <p:sp>
        <p:nvSpPr>
          <p:cNvPr id="24" name="Text 16"/>
          <p:cNvSpPr/>
          <p:nvPr/>
        </p:nvSpPr>
        <p:spPr>
          <a:xfrm>
            <a:off x="12663793" y="4218143"/>
            <a:ext cx="26592" cy="12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25" name="Text 17"/>
          <p:cNvSpPr/>
          <p:nvPr/>
        </p:nvSpPr>
        <p:spPr>
          <a:xfrm>
            <a:off x="768072" y="6388060"/>
            <a:ext cx="13094256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Male applicants account for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81% of loan volume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Credit history aligns directly with approval outcomes — all 411 approvals carry positive credit history.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3063" y="1144667"/>
            <a:ext cx="3733800" cy="37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Risk Assessment Dashboard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93063" y="1688783"/>
            <a:ext cx="6380559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Purpose: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Predict default probability and segment risk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3063" y="2140863"/>
            <a:ext cx="6380559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Credit Risk Score Model (0-1000 scale):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3063" y="2592943"/>
            <a:ext cx="6380559" cy="2438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AAA (800+):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1% default risk → Auto-approve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AA (700-800):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3% default risk → Standard approval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(600-700):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7% default risk → Normal review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 (500-600):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15% default risk → Enhanced due diligence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 (400-500):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25% default risk → Secured loan required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 (300-400):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40% default risk → High caution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 (&lt;300):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60% default risk → Reject or collateralize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93063" y="5187434"/>
            <a:ext cx="6380559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Risk Distribution: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93063" y="5639514"/>
            <a:ext cx="6380559" cy="101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45% customers in Low Risk (A-AAA)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35% customers in Medium Risk (B-C)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20% customers in High Risk (D-F)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93063" y="6805732"/>
            <a:ext cx="6380559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5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4398" y="1534120"/>
            <a:ext cx="5161359" cy="51613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566" y="1671757"/>
            <a:ext cx="8242221" cy="638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Self-Employment &amp; Loan Outcomes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566" y="2794278"/>
            <a:ext cx="6347460" cy="36080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52683" y="3656614"/>
            <a:ext cx="155294" cy="158687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75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3885772" y="5230950"/>
            <a:ext cx="155294" cy="158687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35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7572137" y="2771180"/>
            <a:ext cx="2854762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Self-Employment Insight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572137" y="3274695"/>
            <a:ext cx="6350318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Among self-employed applicants,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46.7%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received loan approval — a notably lower rate compared to salaried applicants.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72137" y="4062174"/>
            <a:ext cx="6350318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Self-employment status introduces additional risk in the approval model, likely due to income variability.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566" y="1671757"/>
            <a:ext cx="7131844" cy="638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Marital Status &amp; Approval Rate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566" y="2794278"/>
            <a:ext cx="6347460" cy="36080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10510" y="5674552"/>
            <a:ext cx="209450" cy="158687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-0.7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3724149" y="4093761"/>
            <a:ext cx="179958" cy="158687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0.6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5723042" y="3121142"/>
            <a:ext cx="179958" cy="158687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1.3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7572137" y="2771180"/>
            <a:ext cx="2555558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Marital Status Effect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572137" y="3274695"/>
            <a:ext cx="6350318" cy="932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Unmarried applicants show a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+0.6 approval rate increase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while married applicants see a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-0.7 decrease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a total spread of 1.3 across categories.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72137" y="4373047"/>
            <a:ext cx="6350318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Marital status plays a measurable role in approval likelihood within this dataset.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9111" y="658297"/>
            <a:ext cx="7678579" cy="130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Self-Employed Profile by Property Area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6219111" y="2256592"/>
            <a:ext cx="7678579" cy="1183719"/>
          </a:xfrm>
          <a:prstGeom prst="roundRect">
            <a:avLst>
              <a:gd name="adj" fmla="val 2653"/>
            </a:avLst>
          </a:prstGeom>
          <a:solidFill>
            <a:srgbClr val="F0EDE6"/>
          </a:solidFill>
          <a:ln/>
        </p:spPr>
      </p:sp>
      <p:sp>
        <p:nvSpPr>
          <p:cNvPr id="5" name="Text 2"/>
          <p:cNvSpPr/>
          <p:nvPr/>
        </p:nvSpPr>
        <p:spPr>
          <a:xfrm>
            <a:off x="6428423" y="2465903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Rural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428423" y="2908816"/>
            <a:ext cx="7259955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Income: ₹63,149 Loan: ₹1,032,605 Good Credit: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77%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19111" y="3633549"/>
            <a:ext cx="7678579" cy="1183719"/>
          </a:xfrm>
          <a:prstGeom prst="roundRect">
            <a:avLst>
              <a:gd name="adj" fmla="val 2653"/>
            </a:avLst>
          </a:prstGeom>
          <a:solidFill>
            <a:srgbClr val="F0EDE6"/>
          </a:solidFill>
          <a:ln/>
        </p:spPr>
      </p:sp>
      <p:sp>
        <p:nvSpPr>
          <p:cNvPr id="8" name="Text 5"/>
          <p:cNvSpPr/>
          <p:nvPr/>
        </p:nvSpPr>
        <p:spPr>
          <a:xfrm>
            <a:off x="6428423" y="3842861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Urban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6428423" y="4285774"/>
            <a:ext cx="7259955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Income: ₹64,012 Loan: ₹1,006,605 Good Credit: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75%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9111" y="5010507"/>
            <a:ext cx="7678579" cy="1183719"/>
          </a:xfrm>
          <a:prstGeom prst="roundRect">
            <a:avLst>
              <a:gd name="adj" fmla="val 2653"/>
            </a:avLst>
          </a:prstGeom>
          <a:solidFill>
            <a:srgbClr val="F0EDE6"/>
          </a:solidFill>
          <a:ln/>
        </p:spPr>
      </p:sp>
      <p:sp>
        <p:nvSpPr>
          <p:cNvPr id="11" name="Text 8"/>
          <p:cNvSpPr/>
          <p:nvPr/>
        </p:nvSpPr>
        <p:spPr>
          <a:xfrm>
            <a:off x="6428423" y="5219819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Semiurban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6428423" y="5662732"/>
            <a:ext cx="7259955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Income: ₹65,913 Loan: ₹1,009,243 Good Credit: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82%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19111" y="6387465"/>
            <a:ext cx="7678579" cy="1183719"/>
          </a:xfrm>
          <a:prstGeom prst="roundRect">
            <a:avLst>
              <a:gd name="adj" fmla="val 2653"/>
            </a:avLst>
          </a:prstGeom>
          <a:solidFill>
            <a:srgbClr val="F0EDE6"/>
          </a:solidFill>
          <a:ln/>
        </p:spPr>
      </p:sp>
      <p:sp>
        <p:nvSpPr>
          <p:cNvPr id="14" name="Text 11"/>
          <p:cNvSpPr/>
          <p:nvPr/>
        </p:nvSpPr>
        <p:spPr>
          <a:xfrm>
            <a:off x="6428423" y="6596777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Total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6428423" y="7039689"/>
            <a:ext cx="7259955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Income: ₹64,475 Loan: ₹1,015,206 Good Credit: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7%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0499"/>
            <a:ext cx="81718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Predictors of Loan Approval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252907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Education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743325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Graduates approved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71%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vs. 62% for non-graduates — a significant differentiator.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252907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Credit History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743325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Positive credit history is the strongest single predictor — all 411 approvals carry good credit.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Property Area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413177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Semiurban applicants enjoy the highest approval rate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77%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Employment Type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413177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Self-employed applicants face lower approval odds at just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46.7%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2113" y="855107"/>
            <a:ext cx="5358051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Summary &amp; Takeaways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2113" y="1764625"/>
            <a:ext cx="7719774" cy="1188482"/>
          </a:xfrm>
          <a:prstGeom prst="roundRect">
            <a:avLst>
              <a:gd name="adj" fmla="val 9233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9253" y="1764625"/>
            <a:ext cx="91440" cy="1188482"/>
          </a:xfrm>
          <a:prstGeom prst="roundRect">
            <a:avLst>
              <a:gd name="adj" fmla="val 33377"/>
            </a:avLst>
          </a:prstGeom>
          <a:solidFill>
            <a:srgbClr val="1B5F39"/>
          </a:solidFill>
          <a:ln/>
        </p:spPr>
      </p:sp>
      <p:sp>
        <p:nvSpPr>
          <p:cNvPr id="6" name="Text 3"/>
          <p:cNvSpPr/>
          <p:nvPr/>
        </p:nvSpPr>
        <p:spPr>
          <a:xfrm>
            <a:off x="1006912" y="1990844"/>
            <a:ext cx="3175992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68.7% Overall Approval Rate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6912" y="2418159"/>
            <a:ext cx="7198757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411 of 598 loans approved across the full dataset.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12113" y="3135511"/>
            <a:ext cx="7719774" cy="1188482"/>
          </a:xfrm>
          <a:prstGeom prst="roundRect">
            <a:avLst>
              <a:gd name="adj" fmla="val 9233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9253" y="3135511"/>
            <a:ext cx="91440" cy="1188482"/>
          </a:xfrm>
          <a:prstGeom prst="roundRect">
            <a:avLst>
              <a:gd name="adj" fmla="val 33377"/>
            </a:avLst>
          </a:prstGeom>
          <a:solidFill>
            <a:srgbClr val="1B5F39"/>
          </a:solidFill>
          <a:ln/>
        </p:spPr>
      </p:sp>
      <p:sp>
        <p:nvSpPr>
          <p:cNvPr id="10" name="Text 7"/>
          <p:cNvSpPr/>
          <p:nvPr/>
        </p:nvSpPr>
        <p:spPr>
          <a:xfrm>
            <a:off x="1006912" y="3361730"/>
            <a:ext cx="254329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Credit History is King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06912" y="3789045"/>
            <a:ext cx="7198757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Good credit history is the most decisive factor in approval outcomes.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12113" y="4506397"/>
            <a:ext cx="7719774" cy="1188482"/>
          </a:xfrm>
          <a:prstGeom prst="roundRect">
            <a:avLst>
              <a:gd name="adj" fmla="val 9233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9253" y="4506397"/>
            <a:ext cx="91440" cy="1188482"/>
          </a:xfrm>
          <a:prstGeom prst="roundRect">
            <a:avLst>
              <a:gd name="adj" fmla="val 33377"/>
            </a:avLst>
          </a:prstGeom>
          <a:solidFill>
            <a:srgbClr val="1B5F39"/>
          </a:solidFill>
          <a:ln/>
        </p:spPr>
      </p:sp>
      <p:sp>
        <p:nvSpPr>
          <p:cNvPr id="14" name="Text 11"/>
          <p:cNvSpPr/>
          <p:nvPr/>
        </p:nvSpPr>
        <p:spPr>
          <a:xfrm>
            <a:off x="1006912" y="4732615"/>
            <a:ext cx="254329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Semiurban Advantage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06912" y="5159931"/>
            <a:ext cx="7198757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Semiurban property area yields the best approval rates at 77%.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12113" y="5877282"/>
            <a:ext cx="7719774" cy="1497211"/>
          </a:xfrm>
          <a:prstGeom prst="roundRect">
            <a:avLst>
              <a:gd name="adj" fmla="val 7329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9253" y="5877282"/>
            <a:ext cx="91440" cy="1497211"/>
          </a:xfrm>
          <a:prstGeom prst="roundRect">
            <a:avLst>
              <a:gd name="adj" fmla="val 33377"/>
            </a:avLst>
          </a:prstGeom>
          <a:solidFill>
            <a:srgbClr val="1B5F39"/>
          </a:solidFill>
          <a:ln/>
        </p:spPr>
      </p:sp>
      <p:sp>
        <p:nvSpPr>
          <p:cNvPr id="18" name="Text 15"/>
          <p:cNvSpPr/>
          <p:nvPr/>
        </p:nvSpPr>
        <p:spPr>
          <a:xfrm>
            <a:off x="1006912" y="6103501"/>
            <a:ext cx="254329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Self-Employment Risk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006912" y="6530816"/>
            <a:ext cx="7198757" cy="61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Self-employed applicants are approved at nearly half the rate of salaried peers.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6875" y="767120"/>
            <a:ext cx="512064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Recommendations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6875" y="1684615"/>
            <a:ext cx="771024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Concentration Analysis: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16875" y="2204323"/>
            <a:ext cx="7710249" cy="688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Urban areas: </a:t>
            </a:r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60% of portfolio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→ Diversification needed</a:t>
            </a:r>
            <a:endParaRPr lang="en-US" sz="1600" dirty="0"/>
          </a:p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Rural areas: </a:t>
            </a:r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Only 15%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→ Growth opportunity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16875" y="3100388"/>
            <a:ext cx="771024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3 Recommendations: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6875" y="3620095"/>
            <a:ext cx="771024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 Self-Employed Applicants: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6875" y="3996452"/>
            <a:ext cx="7710249" cy="688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685800" indent="-342900">
              <a:lnSpc>
                <a:spcPts val="2450"/>
              </a:lnSpc>
              <a:buSzPct val="100000"/>
              <a:buChar char="◦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Reduce approval gap by offering business income verification</a:t>
            </a:r>
            <a:endParaRPr lang="en-US" sz="1600" dirty="0"/>
          </a:p>
          <a:p>
            <a:pPr algn="l" lvl="1" marL="685800" indent="-342900">
              <a:lnSpc>
                <a:spcPts val="2450"/>
              </a:lnSpc>
              <a:buSzPct val="100000"/>
              <a:buChar char="◦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Potential to add ₹2 CRORES in annual disbursements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6875" y="4749165"/>
            <a:ext cx="771024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Font typeface="+mj-lt"/>
              <a:buAutoNum type="arabicPeriod" startAt="2"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 Non-Graduate Segment: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6875" y="5125522"/>
            <a:ext cx="7710249" cy="688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685800" indent="-342900">
              <a:lnSpc>
                <a:spcPts val="2450"/>
              </a:lnSpc>
              <a:buSzPct val="100000"/>
              <a:buChar char="◦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Launch financial literacy program</a:t>
            </a:r>
            <a:endParaRPr lang="en-US" sz="1600" dirty="0"/>
          </a:p>
          <a:p>
            <a:pPr algn="l" lvl="1" marL="685800" indent="-342900">
              <a:lnSpc>
                <a:spcPts val="2450"/>
              </a:lnSpc>
              <a:buSzPct val="100000"/>
              <a:buChar char="◦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Reduce over-requesting from 54% to 25%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6875" y="5878235"/>
            <a:ext cx="771024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Font typeface="+mj-lt"/>
              <a:buAutoNum type="arabicPeriod" startAt="3"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 Rural Areas: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16875" y="6254591"/>
            <a:ext cx="7710249" cy="688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685800" indent="-342900">
              <a:lnSpc>
                <a:spcPts val="2450"/>
              </a:lnSpc>
              <a:buSzPct val="100000"/>
              <a:buChar char="◦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Develop specialized rural loan products</a:t>
            </a:r>
            <a:endParaRPr lang="en-US" sz="1600" dirty="0"/>
          </a:p>
          <a:p>
            <a:pPr algn="l" lvl="1" marL="685800" indent="-342900">
              <a:lnSpc>
                <a:spcPts val="2450"/>
              </a:lnSpc>
              <a:buSzPct val="100000"/>
              <a:buChar char="◦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Increase market share by 10%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16875" y="7150656"/>
            <a:ext cx="771024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80191" y="1553051"/>
            <a:ext cx="4664035" cy="875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Insights &amp; Business Value: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480191" y="2463403"/>
            <a:ext cx="2707362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Top 5 Insights from Analysis: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2480191" y="2823567"/>
            <a:ext cx="4664035" cy="3449598"/>
          </a:xfrm>
          <a:prstGeom prst="roundRect">
            <a:avLst>
              <a:gd name="adj" fmla="val 60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87811" y="2831187"/>
            <a:ext cx="4648795" cy="3003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628186" y="2890718"/>
            <a:ext cx="1265753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Insight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81832" y="2890718"/>
            <a:ext cx="1261467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31193" y="2890718"/>
            <a:ext cx="1265277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87811" y="3131582"/>
            <a:ext cx="4648795" cy="6630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628186" y="3191113"/>
            <a:ext cx="1265753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81832" y="3191113"/>
            <a:ext cx="1261467" cy="543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Good credit = 78% approval vs 22% for bad credit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31193" y="3191113"/>
            <a:ext cx="1265277" cy="543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Prioritize credit education programs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811" y="3794641"/>
            <a:ext cx="4648795" cy="6630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628186" y="3854172"/>
            <a:ext cx="1265753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81832" y="3854172"/>
            <a:ext cx="1261467" cy="543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Self-employed have 17% lower approval 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31193" y="3854172"/>
            <a:ext cx="1265277" cy="543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Create specialized verification process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87811" y="4457700"/>
            <a:ext cx="4648795" cy="6630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628186" y="4517231"/>
            <a:ext cx="1265753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81832" y="4517231"/>
            <a:ext cx="1261467" cy="543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EMI &gt; ₹15,000 drops approval by 40%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31193" y="4517231"/>
            <a:ext cx="1265277" cy="36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 EMI cap policies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87811" y="5120759"/>
            <a:ext cx="4648795" cy="6630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628186" y="5180290"/>
            <a:ext cx="1265753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81832" y="5180290"/>
            <a:ext cx="1261467" cy="543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Non-graduates over-request by 54%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31193" y="5180290"/>
            <a:ext cx="1265277" cy="36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Targeted financial literacy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87811" y="5783818"/>
            <a:ext cx="4648795" cy="48172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628186" y="5843349"/>
            <a:ext cx="1265753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81832" y="5843349"/>
            <a:ext cx="1261467" cy="36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Urban areas hold 60% of portfolio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31193" y="5843349"/>
            <a:ext cx="1265277" cy="36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Diversify into rural markets</a:t>
            </a:r>
            <a:endParaRPr lang="en-US" sz="11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3794" y="2092285"/>
            <a:ext cx="3652480" cy="365248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2480191" y="6500336"/>
            <a:ext cx="2102168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6374" y="997148"/>
            <a:ext cx="5364242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Quantitative Business Value: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466374" y="1577578"/>
            <a:ext cx="4238268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/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466374" y="2297430"/>
            <a:ext cx="11697652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Annual Savings &amp; Revenue Impact: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66374" y="2676882"/>
            <a:ext cx="11697652" cy="1631633"/>
          </a:xfrm>
          <a:prstGeom prst="roundRect">
            <a:avLst>
              <a:gd name="adj" fmla="val 155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73994" y="2684502"/>
            <a:ext cx="11682413" cy="4040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643420" y="2768084"/>
            <a:ext cx="257794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Metric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67833" y="2768084"/>
            <a:ext cx="257413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Current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88436" y="2768084"/>
            <a:ext cx="257413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409039" y="2768084"/>
            <a:ext cx="257794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Improvement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473994" y="3088600"/>
            <a:ext cx="11682413" cy="4040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643420" y="3172182"/>
            <a:ext cx="257794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Processing Time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67833" y="3172182"/>
            <a:ext cx="257413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 days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88436" y="3172182"/>
            <a:ext cx="257413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 days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409039" y="3172182"/>
            <a:ext cx="257794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60% faster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473994" y="3492698"/>
            <a:ext cx="11682413" cy="4040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643420" y="3576280"/>
            <a:ext cx="257794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Approval Accuracy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67833" y="3576280"/>
            <a:ext cx="257413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75%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88436" y="3576280"/>
            <a:ext cx="257413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409039" y="3576280"/>
            <a:ext cx="257794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20% better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473994" y="3896797"/>
            <a:ext cx="11682413" cy="4040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643420" y="3980378"/>
            <a:ext cx="257794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Default 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67833" y="3980378"/>
            <a:ext cx="257413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88436" y="3980378"/>
            <a:ext cx="257413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409039" y="3980378"/>
            <a:ext cx="257794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37.5% reduction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6374" y="4451033"/>
            <a:ext cx="11697652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Financial Impact: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66374" y="4830485"/>
            <a:ext cx="11697652" cy="799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💰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/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₹2.4 CRORES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annual operational savings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💰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/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₹5 CRORES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reduction in default losses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💰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/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annual benefit: ₹7.4 CRORES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66374" y="5772388"/>
            <a:ext cx="11697652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ROI Calculation: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66374" y="6151840"/>
            <a:ext cx="11697652" cy="1080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Cost: ₹1.28 LAKHS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Annual Benefit: ₹7.4 CRORES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ROI: 5,780% in Year 1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Payback period: Less than 1 week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165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65115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Summary: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4166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This Loan Approval Analytics Dashboard successfully delivers: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034665"/>
            <a:ext cx="130428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/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insights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into approval patterns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/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Predictive risk scoring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for better decisions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/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Segment-specific strategies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for growth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/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Operational efficiency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with 60% faster processing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/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Exceptional ROI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of 5,780%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89339"/>
            <a:ext cx="344900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Future Enhancements: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93790" y="5954792"/>
            <a:ext cx="13042821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🤖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Machine learning integration for automated approvals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📱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Mobile app for field officers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70150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352086"/>
            <a:ext cx="77387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                                       Thank You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                                                                         I m now happy to take your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2026-04-04T03:11:35Z</dcterms:created>
  <dcterms:modified xsi:type="dcterms:W3CDTF">2026-04-04T03:11:35Z</dcterms:modified>
</cp:coreProperties>
</file>